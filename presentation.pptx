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6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3810" autoAdjust="0"/>
  </p:normalViewPr>
  <p:slideViewPr>
    <p:cSldViewPr snapToGrid="0" showGuides="1">
      <p:cViewPr varScale="1">
        <p:scale>
          <a:sx n="91" d="100"/>
          <a:sy n="91" d="100"/>
        </p:scale>
        <p:origin x="53" y="1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06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9F922E-7945-432A-9D31-3F9D57CB5C5C}" type="datetime1">
              <a:rPr lang="fr-FR" smtClean="0"/>
              <a:t>10/04/2026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DA65FAC-8D00-4B8B-BF17-28514BAF2ABF}" type="datetime1">
              <a:rPr lang="fr-FR" noProof="0" smtClean="0"/>
              <a:t>10/04/2026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111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865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344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3282-93B3-EF5A-30CB-D5A5CD64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DF1F6AE-BC72-8A72-C823-8BEDF8C20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82C6A26-6106-9F8B-5664-7205ADDF5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CA4E41-78EF-06D9-C415-67C542AFA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15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81796-E072-DDDE-90E1-721A2FAE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7E0D3B-9E69-4EC2-9278-88F9FF0FC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A6787FA-480F-423C-4DED-7E0B6DB63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36ED27-6002-3B90-E87F-B7712B76B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0376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B515-F5C3-E910-1620-75D5253F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641947D-8466-9331-0864-28B6EA56E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E9C6A52-DC70-0998-5FBE-DB3507965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2D0C48-E016-34C3-76CC-8106BC4AA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4316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225A-C78B-598F-96E6-82A59696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6D5F792-1757-C81B-4200-DB1B91BCD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A86307-CE87-F430-D80B-49F751933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2D8AF0-2EAC-1C70-6BF9-21A11E374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500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A8CF-90EF-B9E5-7F58-BBAA01300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C234BD-72C5-9362-5C4E-A7BAE8D77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D1CB17A-94BE-6735-7ED0-987664844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48FA08-193F-CB7C-C00B-F71393835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810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75FE-AF94-1773-8E5F-115FEB85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0EEAFE-A7D7-2CC0-F3C8-AA3FA521A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B3BCD35-2735-5936-4D68-CA7DD9645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BC1A20-2BC5-4E64-5962-96A4CF343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228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D2169-7A9A-7FB2-6B60-4683C539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EE9088-16B6-91F5-AFE6-F0CB1D6FA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B548A56-30C9-02EC-D8B3-9218AB49B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F96966-6975-860E-CA9E-12FA5031A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379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Modifier le style du sous-titre du masque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 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Modifier le style du sous-titre du masque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ln>
                <a:noFill/>
              </a:ln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Espace réservé d’image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fr-FR" noProof="0"/>
              <a:t>Ajoutez une image ici</a:t>
            </a:r>
          </a:p>
        </p:txBody>
      </p:sp>
      <p:sp>
        <p:nvSpPr>
          <p:cNvPr id="7" name="Espace réservé d’image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fr-FR" noProof="0"/>
              <a:t>Ajoutez une image ici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4" name="Espace réservé d’image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 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9" name="Rectangle 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3" name="Espace réservé d’image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3" name="Espace réservé d’image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5" name="Espace réservé d’image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Rectangle 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Espace réservé d’image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5" name="Espace réservé d’image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6" name="Espace réservé d’image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7" name="Espace réservé d’image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 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Rectangle 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ce réservé d’image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5" name="Espace réservé d’image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6" name="Espace réservé d’image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8" name="Espace réservé d’image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3" name="Espace réservé du texte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Triangle isocè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9" name="Triangle isocè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4" name="Triangle isocè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5" name="Espace réservé d’image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6" name="Espace réservé d’image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7" name="Espace réservé d’image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8" name="Espace réservé d’image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u texte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8" name="Espace réservé du texte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9" name="Espace réservé du texte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8" name="Espace réservé d’image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20" name="Espace réservé d’image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5" name="Espace réservé d’image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6" name="Espace réservé d’image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’image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8" name="Espace réservé du texte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8" name="Espace réservé d’image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Espace réservé du texte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4" name="Espace réservé d’image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5" name="Espace réservé d’image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6" name="Espace réservé d’image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Rectangle 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9" name="Espace réservé du texte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5" name="Espace réservé du texte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9" name="Espace réservé du texte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50" name="Espace réservé du texte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51" name="Espace réservé d’image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2" name="Espace réservé d’image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3" name="Espace réservé d’image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Rectangle 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8" name="Espace réservé d’image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9" name="Espace réservé d’image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0" name="Espace réservé d’image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1" name="Espace réservé du texte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3" name="Espace réservé du texte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7" name="Espace réservé du texte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8" name="Espace réservé du texte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4" name="Espace réservé du texte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Rectangle 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8" name="Espace réservé d’image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9" name="Espace réservé d’image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0" name="Espace réservé d’image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1" name="Espace réservé du texte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3" name="Espace réservé du texte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7" name="Espace réservé du texte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8" name="Espace réservé du texte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4" name="Espace réservé du texte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7" name="Espace réservé de graphique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9" name="Espace réservé de graphique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10" name="Espace réservé de graphique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11" name="Espace réservé de graphique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03DC2DEF-D2FE-4B45-ABA4-9F153FD1C98A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436237"/>
            <a:ext cx="4412419" cy="27325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Analysez</a:t>
            </a:r>
            <a:r>
              <a:rPr lang="en-US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des </a:t>
            </a:r>
            <a:r>
              <a:rPr lang="en-US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indicateurs</a:t>
            </a:r>
            <a:r>
              <a:rPr lang="en-US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l'égalité</a:t>
            </a:r>
            <a:r>
              <a:rPr lang="en-US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femmes/hommes </a:t>
            </a:r>
            <a:br>
              <a:rPr lang="en-US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respect du RGPD</a:t>
            </a:r>
          </a:p>
        </p:txBody>
      </p:sp>
      <p:cxnSp>
        <p:nvCxnSpPr>
          <p:cNvPr id="23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 descr="Une image contenant capture d’écran, Graphique, Bleu électrique, conception&#10;&#10;Le contenu généré par l’IA peut être incorrect.">
            <a:extLst>
              <a:ext uri="{FF2B5EF4-FFF2-40B4-BE49-F238E27FC236}">
                <a16:creationId xmlns:a16="http://schemas.microsoft.com/office/drawing/2014/main" id="{3E11DFC3-BEB0-14DC-CB61-0A09268D6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925" y="2747415"/>
            <a:ext cx="5664133" cy="2421416"/>
          </a:xfrm>
          <a:prstGeom prst="rect">
            <a:avLst/>
          </a:prstGeom>
        </p:spPr>
      </p:pic>
      <p:grpSp>
        <p:nvGrpSpPr>
          <p:cNvPr id="24" name="Group 18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0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BA6A0E7F-BD90-D213-41E8-6B96FAF08E9D}"/>
              </a:ext>
            </a:extLst>
          </p:cNvPr>
          <p:cNvSpPr txBox="1"/>
          <p:nvPr/>
        </p:nvSpPr>
        <p:spPr>
          <a:xfrm>
            <a:off x="2750889" y="5644083"/>
            <a:ext cx="211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>
                <a:solidFill>
                  <a:schemeClr val="bg1"/>
                </a:solidFill>
              </a:rPr>
              <a:t>MK</a:t>
            </a:r>
          </a:p>
        </p:txBody>
      </p:sp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AF2541F6-94C8-AF4D-6D87-3C261CD46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Sommaire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fr-FR" dirty="0"/>
              <a:t>Présentation des données</a:t>
            </a:r>
          </a:p>
          <a:p>
            <a:pPr rtl="0"/>
            <a:r>
              <a:rPr lang="fr-FR" dirty="0"/>
              <a:t>Préparation des données, anonymisation et  RGPD</a:t>
            </a:r>
          </a:p>
          <a:p>
            <a:pPr rtl="0"/>
            <a:r>
              <a:rPr lang="fr-FR" dirty="0"/>
              <a:t>Analyse et visualisation des 5 indicateurs</a:t>
            </a:r>
          </a:p>
          <a:p>
            <a:pPr rtl="0"/>
            <a:r>
              <a:rPr lang="fr-FR" dirty="0"/>
              <a:t>Score final de l’entreprise et recommandations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2</a:t>
            </a:fld>
            <a:endParaRPr lang="fr-FR"/>
          </a:p>
        </p:txBody>
      </p:sp>
      <p:pic>
        <p:nvPicPr>
          <p:cNvPr id="10" name="Espace réservé d’image 9">
            <a:extLst>
              <a:ext uri="{FF2B5EF4-FFF2-40B4-BE49-F238E27FC236}">
                <a16:creationId xmlns:a16="http://schemas.microsoft.com/office/drawing/2014/main" id="{618DD966-19F0-4350-AC58-AE86C210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" name="Image 2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5B8D44DE-3449-8B92-79D9-7C793A5AE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">
            <a:extLst>
              <a:ext uri="{FF2B5EF4-FFF2-40B4-BE49-F238E27FC236}">
                <a16:creationId xmlns:a16="http://schemas.microsoft.com/office/drawing/2014/main" id="{2C00B059-8249-401E-BECD-DC838B3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Présentation des données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81E71C2-3FC1-41C1-8255-33A1AC80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3</a:t>
            </a:fld>
            <a:endParaRPr lang="fr-FR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42596E-DB09-43F7-A053-18CEB2DDE6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2433768" cy="4551792"/>
          </a:xfrm>
        </p:spPr>
        <p:txBody>
          <a:bodyPr rtlCol="0">
            <a:normAutofit/>
          </a:bodyPr>
          <a:lstStyle/>
          <a:p>
            <a:pPr rtl="0"/>
            <a:r>
              <a:rPr lang="fr-FR" sz="2000" dirty="0"/>
              <a:t>3 fichiers 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 err="1"/>
              <a:t>Infos_pro</a:t>
            </a:r>
            <a:endParaRPr lang="fr-FR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Rémunération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Salariés</a:t>
            </a:r>
          </a:p>
          <a:p>
            <a:pPr marL="0" indent="0" rtl="0"/>
            <a:endParaRPr lang="fr-FR" sz="2000" dirty="0"/>
          </a:p>
          <a:p>
            <a:pPr marL="0" indent="0" rtl="0"/>
            <a:r>
              <a:rPr lang="fr-FR" sz="2000" dirty="0"/>
              <a:t>Données personnelles mais pas nécessairement sensibles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75C7D05-C5D6-026D-5D2C-CA96AC56F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71" y="1019175"/>
            <a:ext cx="8664691" cy="160033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707B650-D6D4-FFDF-039A-F0DE78FAE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271" y="2760976"/>
            <a:ext cx="8664691" cy="157060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211221A-C378-D5DB-19AC-93858DE5E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271" y="4543890"/>
            <a:ext cx="8702792" cy="1534773"/>
          </a:xfrm>
          <a:prstGeom prst="rect">
            <a:avLst/>
          </a:prstGeom>
        </p:spPr>
      </p:pic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21790DF5-2621-5442-E7A5-F987B40E3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0B19D-11E7-4C9D-8C8E-F7142691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">
            <a:extLst>
              <a:ext uri="{FF2B5EF4-FFF2-40B4-BE49-F238E27FC236}">
                <a16:creationId xmlns:a16="http://schemas.microsoft.com/office/drawing/2014/main" id="{36EE2266-C699-E7B2-0A4A-ED9A5AB2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fr-FR" dirty="0"/>
              <a:t>Préparation des données, anonymisation et  RGPD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5275F4D-2E20-720A-D39A-E085D1D0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4</a:t>
            </a:fld>
            <a:endParaRPr lang="fr-FR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D13097DF-84BE-D4EE-71BA-CB7F1D32BF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099" y="1450975"/>
            <a:ext cx="4042525" cy="4567440"/>
          </a:xfrm>
        </p:spPr>
        <p:txBody>
          <a:bodyPr rtlCol="0">
            <a:normAutofit/>
          </a:bodyPr>
          <a:lstStyle/>
          <a:p>
            <a:pPr rtl="0"/>
            <a:r>
              <a:rPr lang="fr-FR" sz="2000" u="sng" dirty="0"/>
              <a:t>Préparation des données 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Suppression des doublons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Traitement des données manquantes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Changements de types </a:t>
            </a:r>
          </a:p>
          <a:p>
            <a:pPr marL="0" indent="0" rtl="0"/>
            <a:r>
              <a:rPr lang="fr-FR" sz="2000" dirty="0"/>
              <a:t>(ex : booléens -&gt; ‘Oui’ / ’Non’)</a:t>
            </a:r>
          </a:p>
          <a:p>
            <a:pPr marL="0" indent="0" rtl="0"/>
            <a:endParaRPr lang="fr-FR" sz="2000" dirty="0"/>
          </a:p>
          <a:p>
            <a:pPr marL="0" indent="0" rtl="0"/>
            <a:r>
              <a:rPr lang="fr-FR" sz="2000" u="sng" dirty="0"/>
              <a:t>Anonymisation 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sz="2000" dirty="0"/>
              <a:t>Suppression des noms et n° de téléphone des employés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6CDA504-2FF2-BC8F-44AD-D0DCD1A45ECA}"/>
              </a:ext>
            </a:extLst>
          </p:cNvPr>
          <p:cNvSpPr txBox="1"/>
          <p:nvPr/>
        </p:nvSpPr>
        <p:spPr>
          <a:xfrm>
            <a:off x="5569528" y="1450974"/>
            <a:ext cx="38654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Respect du RGPD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Finalité : Calcul du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Données anonymisées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Données minimisées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Conservation : jusqu’à</a:t>
            </a:r>
          </a:p>
          <a:p>
            <a:r>
              <a:rPr lang="fr-FR" dirty="0"/>
              <a:t>publication du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0EC9C897-72D4-7CB6-E227-DC12C2C5E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1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0705-CBF1-08ED-840C-DA2F0986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D534295-0F84-577A-F133-82D33728576E}"/>
              </a:ext>
            </a:extLst>
          </p:cNvPr>
          <p:cNvSpPr/>
          <p:nvPr/>
        </p:nvSpPr>
        <p:spPr>
          <a:xfrm>
            <a:off x="7048007" y="6276869"/>
            <a:ext cx="599702" cy="39582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63267438-0A43-4BA0-95D6-E2ADB9CA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Analyse et visualisation : Parité effectifs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0B46F8C-A69B-11C9-AEB0-8F82F4786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79" y="1023141"/>
            <a:ext cx="5049969" cy="4065226"/>
          </a:xfrm>
          <a:prstGeom prst="rect">
            <a:avLst/>
          </a:prstGeom>
          <a:noFill/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592AF0A-7934-4002-48D7-AF42AC31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fr-FR" sz="80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DBB74CD-0585-2F7A-F6A6-3A8C7D13B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349" y="1077365"/>
            <a:ext cx="4788373" cy="4118000"/>
          </a:xfrm>
          <a:prstGeom prst="rect">
            <a:avLst/>
          </a:prstGeom>
          <a:noFill/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E7D6DCC-7B32-5842-5F3F-7D7ED68F53E7}"/>
              </a:ext>
            </a:extLst>
          </p:cNvPr>
          <p:cNvSpPr txBox="1"/>
          <p:nvPr/>
        </p:nvSpPr>
        <p:spPr>
          <a:xfrm>
            <a:off x="2009563" y="5195365"/>
            <a:ext cx="85774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Plus de femmes dans les fonctions de support, moins dans les fonctions techniques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chaque service : 20 si plus de femmes, sinon 1 point en moins par % non paritaire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l’indicateur : </a:t>
            </a:r>
            <a:r>
              <a:rPr lang="fr-FR" b="1" dirty="0">
                <a:solidFill>
                  <a:schemeClr val="bg1"/>
                </a:solidFill>
              </a:rPr>
              <a:t>15.86</a:t>
            </a:r>
          </a:p>
        </p:txBody>
      </p:sp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4C15EC8F-3C3B-13EA-4562-0487A5ECE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3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79A4-4F65-B49C-210B-FD2078E6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588F873-C77A-74E2-63A9-82778E04C7AE}"/>
              </a:ext>
            </a:extLst>
          </p:cNvPr>
          <p:cNvSpPr/>
          <p:nvPr/>
        </p:nvSpPr>
        <p:spPr>
          <a:xfrm>
            <a:off x="10065528" y="4123882"/>
            <a:ext cx="373062" cy="3207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C2E33ADA-97C9-715B-27D6-E74AD7D96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Analyse et visualisation : Augmentations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A30D0BB-A3D9-A9AA-8991-DB5567E2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fr-FR" sz="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B0BADCE-5E19-5521-73E5-590E61C75A73}"/>
              </a:ext>
            </a:extLst>
          </p:cNvPr>
          <p:cNvSpPr txBox="1"/>
          <p:nvPr/>
        </p:nvSpPr>
        <p:spPr>
          <a:xfrm>
            <a:off x="6696407" y="2413337"/>
            <a:ext cx="50090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score : 20 si femmes favorisées, sinon retrait de 1 point par % d’écart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Nette favorisation des femmes,</a:t>
            </a:r>
          </a:p>
          <a:p>
            <a:pPr algn="ctr"/>
            <a:r>
              <a:rPr lang="fr-FR" dirty="0"/>
              <a:t>sur-correction bienvenue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l’indicateur :  </a:t>
            </a:r>
            <a:r>
              <a:rPr lang="fr-FR" b="1" dirty="0">
                <a:solidFill>
                  <a:schemeClr val="bg1"/>
                </a:solidFill>
              </a:rPr>
              <a:t>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4D849B8-E475-9016-3EA1-078098D8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1366221"/>
            <a:ext cx="6141363" cy="5045336"/>
          </a:xfrm>
          <a:prstGeom prst="rect">
            <a:avLst/>
          </a:prstGeom>
        </p:spPr>
      </p:pic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35E29CC7-A755-9020-C80D-3D07DED48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7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6DA7-A313-25A1-B6CA-83E8D68F3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9D17E82-2E1B-15E2-BD64-8949EC4D23FC}"/>
              </a:ext>
            </a:extLst>
          </p:cNvPr>
          <p:cNvSpPr/>
          <p:nvPr/>
        </p:nvSpPr>
        <p:spPr>
          <a:xfrm>
            <a:off x="6666295" y="6276869"/>
            <a:ext cx="640591" cy="3207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F2AF26EA-E440-F3F8-3CAC-BCA4EF3D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Analyse et visualisation : Contrats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2854140-C22F-BDA3-74B2-7B76F9BC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fr-FR" sz="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1B3289E-A51A-AD97-A04E-6702D0B91E71}"/>
              </a:ext>
            </a:extLst>
          </p:cNvPr>
          <p:cNvSpPr txBox="1"/>
          <p:nvPr/>
        </p:nvSpPr>
        <p:spPr>
          <a:xfrm>
            <a:off x="2380032" y="5120321"/>
            <a:ext cx="7117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score : 20 pour la parité, sinon retrait de 1 point par % d’écart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Femmes plus précarisées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l’indicateur : </a:t>
            </a:r>
            <a:r>
              <a:rPr lang="fr-FR" b="1" dirty="0">
                <a:solidFill>
                  <a:schemeClr val="bg1"/>
                </a:solidFill>
              </a:rPr>
              <a:t>15.02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DFC4EB-E0FB-B551-03CD-9D640A715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546" y="1022141"/>
            <a:ext cx="4051304" cy="40981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FF97FD1-16EB-1305-13B8-F60010751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084" y="1019175"/>
            <a:ext cx="4045874" cy="4101146"/>
          </a:xfrm>
          <a:prstGeom prst="rect">
            <a:avLst/>
          </a:prstGeom>
        </p:spPr>
      </p:pic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F3442D57-C6B4-90AD-2F14-1D3E5C9C6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9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D5C6A-1200-293A-C978-0738448A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DE51375-74A1-8ED1-16AF-27DEC59AE5EE}"/>
              </a:ext>
            </a:extLst>
          </p:cNvPr>
          <p:cNvSpPr/>
          <p:nvPr/>
        </p:nvSpPr>
        <p:spPr>
          <a:xfrm>
            <a:off x="6964880" y="6261198"/>
            <a:ext cx="373062" cy="3207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2B7DD11F-657B-E33D-0751-BF23468DA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Analyse et visualisation : Accidents de travail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A22076E-E0E4-70C7-52F6-A37D1BA7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fr-FR" sz="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EDF59CC-6E81-B43D-7687-1225339843CF}"/>
              </a:ext>
            </a:extLst>
          </p:cNvPr>
          <p:cNvSpPr txBox="1"/>
          <p:nvPr/>
        </p:nvSpPr>
        <p:spPr>
          <a:xfrm>
            <a:off x="2537182" y="5140837"/>
            <a:ext cx="7117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score : 20 pour la parité, sinon retrait de 1 point par % d’écart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Le taux d’accidents est très paritaire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l’indicateur :  </a:t>
            </a:r>
            <a:r>
              <a:rPr lang="fr-FR" b="1" dirty="0">
                <a:solidFill>
                  <a:schemeClr val="bg1"/>
                </a:solidFill>
              </a:rPr>
              <a:t>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E73B8F-F06F-F30E-E622-03FFE6D1A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472" y="1019175"/>
            <a:ext cx="4275584" cy="412166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C17AC8F-D586-8EB7-F2FD-67357351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380" y="1024854"/>
            <a:ext cx="4254620" cy="4121663"/>
          </a:xfrm>
          <a:prstGeom prst="rect">
            <a:avLst/>
          </a:prstGeom>
        </p:spPr>
      </p:pic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9124AA52-BE6B-E743-E44F-03BFB38C1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39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AA3C6-51E4-52D1-5FF0-45DEAEC34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69B2E3B-03F1-8B45-CCB7-11D97C7F109C}"/>
              </a:ext>
            </a:extLst>
          </p:cNvPr>
          <p:cNvSpPr/>
          <p:nvPr/>
        </p:nvSpPr>
        <p:spPr>
          <a:xfrm>
            <a:off x="9924210" y="4174704"/>
            <a:ext cx="591390" cy="3207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E283096B-EC4F-137F-9B82-E5DF9B0C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Analyse et visualisation : Salaires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CC9514-DA8C-2041-94F8-E932707D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fr-FR" sz="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2FE1A8D-D6F0-CD74-14FE-B69D78507326}"/>
              </a:ext>
            </a:extLst>
          </p:cNvPr>
          <p:cNvSpPr txBox="1"/>
          <p:nvPr/>
        </p:nvSpPr>
        <p:spPr>
          <a:xfrm>
            <a:off x="7013985" y="1968649"/>
            <a:ext cx="43030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Ecart de salaire entre Femmes et Hommes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Calcul du score par catégorie : </a:t>
            </a:r>
          </a:p>
          <a:p>
            <a:pPr algn="ctr"/>
            <a:r>
              <a:rPr lang="fr-FR" dirty="0"/>
              <a:t>20 pour la parité, </a:t>
            </a:r>
          </a:p>
          <a:p>
            <a:pPr algn="ctr"/>
            <a:r>
              <a:rPr lang="fr-FR" dirty="0"/>
              <a:t>sinon retrait de 1 point par % d’écart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global : Moyenne des scores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Score de l’indicateur :  </a:t>
            </a:r>
            <a:r>
              <a:rPr lang="fr-FR" b="1" dirty="0">
                <a:solidFill>
                  <a:schemeClr val="bg1"/>
                </a:solidFill>
              </a:rPr>
              <a:t>17.35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D3F41A2-4859-09CC-8D9D-CBBB3815D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6" y="1019175"/>
            <a:ext cx="5599413" cy="5763138"/>
          </a:xfrm>
          <a:prstGeom prst="rect">
            <a:avLst/>
          </a:prstGeom>
        </p:spPr>
      </p:pic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BA8C04C8-8DE7-D631-7006-6FC76C956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E320E-E762-2F0A-8A5E-E5E7DDE4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3BCE60-156A-F5B5-C6B8-731CBF47F72F}"/>
              </a:ext>
            </a:extLst>
          </p:cNvPr>
          <p:cNvSpPr/>
          <p:nvPr/>
        </p:nvSpPr>
        <p:spPr>
          <a:xfrm>
            <a:off x="7091528" y="1582340"/>
            <a:ext cx="664737" cy="4116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518AEA3B-8243-7C22-8C98-D43361ABD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Score finale de l’entreprise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35C4AD8-75A3-07B0-1CAB-C94DE4EC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fr-FR" sz="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14F2261-A4BC-EBD2-1BAC-545FB4CEF8B5}"/>
              </a:ext>
            </a:extLst>
          </p:cNvPr>
          <p:cNvSpPr txBox="1"/>
          <p:nvPr/>
        </p:nvSpPr>
        <p:spPr>
          <a:xfrm>
            <a:off x="3209794" y="1582340"/>
            <a:ext cx="58438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Score final de l’entreprise :  </a:t>
            </a:r>
            <a:r>
              <a:rPr lang="fr-FR" b="1" dirty="0">
                <a:solidFill>
                  <a:schemeClr val="bg1"/>
                </a:solidFill>
              </a:rPr>
              <a:t>88.23</a:t>
            </a:r>
          </a:p>
          <a:p>
            <a:pPr algn="ctr"/>
            <a:endParaRPr lang="fr-FR" b="1" u="sng" dirty="0"/>
          </a:p>
          <a:p>
            <a:pPr algn="ctr"/>
            <a:r>
              <a:rPr lang="fr-FR" dirty="0"/>
              <a:t>L’entreprise respecte plutôt bien l’égalité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Points de vigilances :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Disparités de salaires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Nombre de CDI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Plus de femmes aux postes techniques (ex: Informatique)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/>
          </a:p>
          <a:p>
            <a:pPr algn="ctr"/>
            <a:r>
              <a:rPr lang="fr-FR" dirty="0"/>
              <a:t>A confirmer avec le calcul de l’ensemble des indicateurs</a:t>
            </a:r>
          </a:p>
          <a:p>
            <a:endParaRPr lang="fr-FR" dirty="0"/>
          </a:p>
          <a:p>
            <a:endParaRPr lang="fr-FR" dirty="0"/>
          </a:p>
          <a:p>
            <a:pPr algn="ctr"/>
            <a:endParaRPr lang="fr-FR" dirty="0"/>
          </a:p>
        </p:txBody>
      </p:sp>
      <p:pic>
        <p:nvPicPr>
          <p:cNvPr id="2" name="Image 1" descr="Une image contenant Graphique, symbol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29BB3B2F-4D55-8CF3-2FE3-557160D74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565" y="69918"/>
            <a:ext cx="1785731" cy="6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196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0119_TF34126823" id="{1BA66332-570E-41C7-9121-94BD9CA98AED}" vid="{18C98CCA-5AC5-4C8A-A942-2AFB0327D88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Présentation attrayante classique en blocs</Template>
  <TotalTime>0</TotalTime>
  <Words>367</Words>
  <Application>Microsoft Office PowerPoint</Application>
  <PresentationFormat>Grand écran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Analysez des indicateurs de l'égalité femmes/hommes  en respect du RGPD</vt:lpstr>
      <vt:lpstr>Sommaire</vt:lpstr>
      <vt:lpstr>Présentation des données</vt:lpstr>
      <vt:lpstr>Préparation des données, anonymisation et  RGPD</vt:lpstr>
      <vt:lpstr>Analyse et visualisation : Parité effectifs</vt:lpstr>
      <vt:lpstr>Analyse et visualisation : Augmentations</vt:lpstr>
      <vt:lpstr>Analyse et visualisation : Contrats</vt:lpstr>
      <vt:lpstr>Analyse et visualisation : Accidents de travail</vt:lpstr>
      <vt:lpstr>Analyse et visualisation : Salaires</vt:lpstr>
      <vt:lpstr>Score finale de l’entreprise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Marvin Kangbeni</dc:creator>
  <cp:lastModifiedBy>Marvin Kangbeni</cp:lastModifiedBy>
  <cp:revision>7</cp:revision>
  <dcterms:created xsi:type="dcterms:W3CDTF">2025-11-27T09:41:56Z</dcterms:created>
  <dcterms:modified xsi:type="dcterms:W3CDTF">2026-04-10T08:15:07Z</dcterms:modified>
</cp:coreProperties>
</file>