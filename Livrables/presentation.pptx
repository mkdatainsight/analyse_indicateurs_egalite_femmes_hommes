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66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6" autoAdjust="0"/>
    <p:restoredTop sz="93810" autoAdjust="0"/>
  </p:normalViewPr>
  <p:slideViewPr>
    <p:cSldViewPr snapToGrid="0" showGuides="1">
      <p:cViewPr varScale="1">
        <p:scale>
          <a:sx n="92" d="100"/>
          <a:sy n="92" d="100"/>
        </p:scale>
        <p:origin x="53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4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06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CCAAC74A-664E-43D3-859E-B35855730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710C658-31F9-4A67-8267-E3463B262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59F922E-7945-432A-9D31-3F9D57CB5C5C}" type="datetime1">
              <a:rPr lang="fr-FR" smtClean="0"/>
              <a:t>07/12/2025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D7BBBF1-3A7A-4F4B-8592-578ABE65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A02F046-B531-4374-9A89-AC21BCA06E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D2DFAA7-D3C3-4D01-9299-453E25D16D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05273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DA65FAC-8D00-4B8B-BF17-28514BAF2ABF}" type="datetime1">
              <a:rPr lang="fr-FR" noProof="0" smtClean="0"/>
              <a:t>07/12/2025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DC51814-3B91-4036-94D2-3977634EE214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006257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111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2865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8344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63282-93B3-EF5A-30CB-D5A5CD646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DF1F6AE-BC72-8A72-C823-8BEDF8C20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82C6A26-6106-9F8B-5664-7205ADDF5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CA4E41-78EF-06D9-C415-67C542AFAF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5158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81796-E072-DDDE-90E1-721A2FAE9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97E0D3B-9E69-4EC2-9278-88F9FF0FC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A6787FA-480F-423C-4DED-7E0B6DB63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36ED27-6002-3B90-E87F-B7712B76B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0376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AB515-F5C3-E910-1620-75D5253FE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641947D-8466-9331-0864-28B6EA56ED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E9C6A52-DC70-0998-5FBE-DB3507965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2D0C48-E016-34C3-76CC-8106BC4AA4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4316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6225A-C78B-598F-96E6-82A59696F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6D5F792-1757-C81B-4200-DB1B91BCD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AA86307-CE87-F430-D80B-49F751933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2D8AF0-2EAC-1C70-6BF9-21A11E3740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500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3A8CF-90EF-B9E5-7F58-BBAA01300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1C234BD-72C5-9362-5C4E-A7BAE8D77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D1CB17A-94BE-6735-7ED0-987664844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48FA08-193F-CB7C-C00B-F713938358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8810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975FE-AF94-1773-8E5F-115FEB854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40EEAFE-A7D7-2CC0-F3C8-AA3FA521A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B3BCD35-2735-5936-4D68-CA7DD9645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BC1A20-2BC5-4E64-5962-96A4CF343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82286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D2169-7A9A-7FB2-6B60-4683C539A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AEE9088-16B6-91F5-AFE6-F0CB1D6FA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B548A56-30C9-02EC-D8B3-9218AB49B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F96966-6975-860E-CA9E-12FA5031A0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9379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4448175"/>
            <a:ext cx="12192000" cy="240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rtlCol="0"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69481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 userDrawn="1"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rtlCol="0"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625" y="4927600"/>
            <a:ext cx="4986338" cy="976311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10508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rtlCol="0"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6610" y="4079083"/>
            <a:ext cx="5318781" cy="976311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8550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 userDrawn="1"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rtlCol="0"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6" y="4079083"/>
            <a:ext cx="4416424" cy="976311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Modifier le style du sous-titre du masque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 userDrawn="1"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2483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Rectangle 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 userDrawn="1"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 userDrawn="1"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 userDrawn="1"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rtlCol="0"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 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1510507" y="5130801"/>
            <a:ext cx="9242424" cy="533400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Modifier le style du sous-titre du masque</a:t>
            </a:r>
          </a:p>
        </p:txBody>
      </p:sp>
    </p:spTree>
    <p:extLst>
      <p:ext uri="{BB962C8B-B14F-4D97-AF65-F5344CB8AC3E}">
        <p14:creationId xmlns:p14="http://schemas.microsoft.com/office/powerpoint/2010/main" val="292837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497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 userDrawn="1"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ln>
                <a:noFill/>
              </a:ln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 rtlCol="0">
            <a:normAutofit/>
          </a:bodyPr>
          <a:lstStyle>
            <a:lvl1pPr algn="ctr">
              <a:defRPr sz="44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6100" y="1638299"/>
            <a:ext cx="5346700" cy="4381501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7" name="Espace réservé d’image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37717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rtlCol="0" anchor="b">
            <a:noAutofit/>
          </a:bodyPr>
          <a:lstStyle>
            <a:lvl1pPr>
              <a:defRPr sz="54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2603500"/>
            <a:ext cx="5495926" cy="3573463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au numéro de diapositive 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5" name="Espace réservé d’image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 rtl="0">
              <a:buNone/>
            </a:pPr>
            <a:r>
              <a:rPr lang="fr-FR" noProof="0"/>
              <a:t>Ajoutez une image ici</a:t>
            </a:r>
          </a:p>
        </p:txBody>
      </p:sp>
      <p:sp>
        <p:nvSpPr>
          <p:cNvPr id="7" name="Espace réservé d’image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 rtl="0">
              <a:buNone/>
            </a:pPr>
            <a:r>
              <a:rPr lang="fr-FR" noProof="0"/>
              <a:t>Ajoutez une image ici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 userDrawn="1"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 userDrawn="1"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 userDrawn="1"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 userDrawn="1"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4053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rtlCol="0" anchor="b">
            <a:noAutofit/>
          </a:bodyPr>
          <a:lstStyle>
            <a:lvl1pPr>
              <a:defRPr sz="54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3619500"/>
            <a:ext cx="3997325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au numéro de diapositive 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3" name="Espace réservé d’image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4" name="Espace réservé d’image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5" name="Rectangle 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 userDrawn="1"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6" name="Rectangle 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 userDrawn="1"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 userDrawn="1"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7401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 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rtlCol="0" anchor="ctr">
            <a:noAutofit/>
          </a:bodyPr>
          <a:lstStyle>
            <a:lvl1pPr>
              <a:defRPr sz="54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476250"/>
            <a:ext cx="5795963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au numéro de diapositive 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3" name="Espace réservé d’image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387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rtlCol="0" anchor="b">
            <a:noAutofit/>
          </a:bodyPr>
          <a:lstStyle>
            <a:lvl1pPr>
              <a:defRPr sz="40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19198" y="3073967"/>
            <a:ext cx="5272764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3" name="Espace réservé d’image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15135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rtlCol="0" anchor="ctr">
            <a:noAutofit/>
          </a:bodyPr>
          <a:lstStyle>
            <a:lvl1pPr>
              <a:defRPr sz="40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489370" y="1783832"/>
            <a:ext cx="4402592" cy="3290338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au numéro de diapositive 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3" name="Espace réservé d’image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 userDrawn="1"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 userDrawn="1"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1462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 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1389743"/>
            <a:ext cx="12192000" cy="407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31584"/>
            <a:ext cx="10515600" cy="1500187"/>
          </a:xfrm>
        </p:spPr>
        <p:txBody>
          <a:bodyPr rtlCol="0"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F2E6F7-3BE5-4484-A73E-3EFDB7348BB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968071"/>
            <a:ext cx="10515600" cy="805542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9" name="Rectangle 8">
            <a:extLst>
              <a:ext uri="{FF2B5EF4-FFF2-40B4-BE49-F238E27FC236}">
                <a16:creationId xmlns:a16="http://schemas.microsoft.com/office/drawing/2014/main" id="{919AEFA0-9379-4E32-9D66-976465036916}"/>
              </a:ext>
            </a:extLst>
          </p:cNvPr>
          <p:cNvSpPr/>
          <p:nvPr userDrawn="1"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FB43B-30D9-4055-B912-4E3C85B03657}"/>
              </a:ext>
            </a:extLst>
          </p:cNvPr>
          <p:cNvSpPr/>
          <p:nvPr userDrawn="1"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28814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Espace réservé d’image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rtlCol="0"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6" name="Espace réservé au numéro de diapositive 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 userDrawn="1"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2747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3" name="Espace réservé d’image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rtlCol="0"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6" name="Rectangle 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 userDrawn="1"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 userDrawn="1"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162233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rtlCol="0"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6" name="Rectangle 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 userDrawn="1"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3" name="Espace réservé d’image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88334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rtlCol="0"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6" name="Rectangle 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Espace réservé d’image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454458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 userDrawn="1"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1026" y="1724025"/>
            <a:ext cx="3143250" cy="41910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451282" y="1712119"/>
            <a:ext cx="3142800" cy="41910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u numéro de diapositive 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8" name="Espace réservé d’image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18766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83054" y="1357414"/>
            <a:ext cx="5255193" cy="240486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u numéro de diapositive 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8" name="Espace réservé d’image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1" name="Espace réservé d’image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2406" y="3848474"/>
            <a:ext cx="5256000" cy="24048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81018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numéro de diapositive 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8" name="Espace réservé d’image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83054" y="3808206"/>
            <a:ext cx="5255193" cy="240486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2406" y="3808236"/>
            <a:ext cx="5256000" cy="24048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 userDrawn="1"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86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 userDrawn="1"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rtlCol="0" anchor="b">
            <a:no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609563" y="3118775"/>
            <a:ext cx="2927311" cy="3081999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71475" y="3118776"/>
            <a:ext cx="2926800" cy="3081922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25" name="Espace réservé d’image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 userDrawn="1"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1" name="Rectangle 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 userDrawn="1"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 userDrawn="1"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 userDrawn="1"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58960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3" name="Espace réservé d’image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 userDrawn="1"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Rectangle 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 userDrawn="1"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rtlCol="0" anchor="ctr">
            <a:noAutofit/>
          </a:bodyPr>
          <a:lstStyle>
            <a:lvl1pPr algn="ctr"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28091" y="2424864"/>
            <a:ext cx="4132800" cy="28332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722820" y="2424864"/>
            <a:ext cx="4131850" cy="2832101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106958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6" name="Espace réservé d’image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911057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7" name="Espace réservé d’image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4221609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5" name="Espace réservé d’image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6" name="Espace réservé d’image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7" name="Espace réservé d’image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4114473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 userDrawn="1"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 userDrawn="1"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59956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 userDrawn="1"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1035085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8" name="Espace réservé d’image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004445" y="1330963"/>
            <a:ext cx="2986019" cy="1076636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004445" y="2623930"/>
            <a:ext cx="2986019" cy="34488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1" name="Espace réservé d’image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bg1"/>
              </a:solidFill>
            </a:endParaRPr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786099" y="1333189"/>
            <a:ext cx="2984400" cy="1074410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8786099" y="2623930"/>
            <a:ext cx="2984400" cy="344888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618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8" name="Espace réservé d’image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83636" y="1330963"/>
            <a:ext cx="2986019" cy="1076636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3636" y="2623930"/>
            <a:ext cx="2986019" cy="34488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bg1"/>
              </a:solidFill>
            </a:endParaRPr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830620" y="1333189"/>
            <a:ext cx="2984400" cy="1074410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830620" y="2623930"/>
            <a:ext cx="2984400" cy="344888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2588519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8" name="Espace réservé d’image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61798" y="2910543"/>
            <a:ext cx="5058000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61798" y="3523420"/>
            <a:ext cx="5058000" cy="2181641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5142" y="2910543"/>
            <a:ext cx="5058397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95142" y="3523420"/>
            <a:ext cx="5058397" cy="2181641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686419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61797" y="3634443"/>
            <a:ext cx="5630165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61797" y="4247320"/>
            <a:ext cx="5630165" cy="195345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1476" y="3634443"/>
            <a:ext cx="5582064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71476" y="4247320"/>
            <a:ext cx="5582064" cy="195345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1" name="Espace réservé d’image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6" name="Espace réservé d’image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815424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 userDrawn="1"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610169" y="3956706"/>
            <a:ext cx="5109021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610169" y="4569583"/>
            <a:ext cx="5109021" cy="1412117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9836" y="1462743"/>
            <a:ext cx="5108400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39836" y="2075621"/>
            <a:ext cx="5108400" cy="1391480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7" name="Espace réservé d’image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8" name="Espace réservé d’image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565490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6" name="Espace réservé d’image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 userDrawn="1"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 userDrawn="1"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</p:spTree>
    <p:extLst>
      <p:ext uri="{BB962C8B-B14F-4D97-AF65-F5344CB8AC3E}">
        <p14:creationId xmlns:p14="http://schemas.microsoft.com/office/powerpoint/2010/main" val="2878641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451739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9" y="164210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AF9F3577-4130-4F32-9302-DA8838D30560}"/>
              </a:ext>
            </a:extLst>
          </p:cNvPr>
          <p:cNvSpPr/>
          <p:nvPr userDrawn="1"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7699" y="571500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6" name="Espace réservé d’image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54748" y="2429505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681869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6" name="Espace réservé d’image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 userDrawn="1"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Rectangle 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 userDrawn="1"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</p:spTree>
    <p:extLst>
      <p:ext uri="{BB962C8B-B14F-4D97-AF65-F5344CB8AC3E}">
        <p14:creationId xmlns:p14="http://schemas.microsoft.com/office/powerpoint/2010/main" val="493388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6" name="Espace réservé d’image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</p:spTree>
    <p:extLst>
      <p:ext uri="{BB962C8B-B14F-4D97-AF65-F5344CB8AC3E}">
        <p14:creationId xmlns:p14="http://schemas.microsoft.com/office/powerpoint/2010/main" val="33037322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 userDrawn="1"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6" name="Espace réservé d’image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</p:spTree>
    <p:extLst>
      <p:ext uri="{BB962C8B-B14F-4D97-AF65-F5344CB8AC3E}">
        <p14:creationId xmlns:p14="http://schemas.microsoft.com/office/powerpoint/2010/main" val="3633710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5BF167-B9E6-4F02-9FA8-3CA79D552F0E}"/>
              </a:ext>
            </a:extLst>
          </p:cNvPr>
          <p:cNvSpPr/>
          <p:nvPr userDrawn="1"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8694DE-D82B-49DB-8A45-D1DD4C9BCEF1}"/>
              </a:ext>
            </a:extLst>
          </p:cNvPr>
          <p:cNvSpPr/>
          <p:nvPr userDrawn="1"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7" name="Rectangle 26">
            <a:extLst>
              <a:ext uri="{FF2B5EF4-FFF2-40B4-BE49-F238E27FC236}">
                <a16:creationId xmlns:a16="http://schemas.microsoft.com/office/drawing/2014/main" id="{407C1370-8D38-4641-8D37-30A1218A4372}"/>
              </a:ext>
            </a:extLst>
          </p:cNvPr>
          <p:cNvSpPr/>
          <p:nvPr userDrawn="1"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CE3EDDE5-9B23-44D7-8546-0B2365B42B16}"/>
              </a:ext>
            </a:extLst>
          </p:cNvPr>
          <p:cNvCxnSpPr/>
          <p:nvPr userDrawn="1"/>
        </p:nvCxnSpPr>
        <p:spPr>
          <a:xfrm>
            <a:off x="591252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B9D259D5-D3C0-4B60-B2D9-9B6DFFD270D8}"/>
              </a:ext>
            </a:extLst>
          </p:cNvPr>
          <p:cNvCxnSpPr/>
          <p:nvPr userDrawn="1"/>
        </p:nvCxnSpPr>
        <p:spPr>
          <a:xfrm>
            <a:off x="3505963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0710C392-9E34-4640-AC70-210A1B8C47B5}"/>
              </a:ext>
            </a:extLst>
          </p:cNvPr>
          <p:cNvCxnSpPr/>
          <p:nvPr userDrawn="1"/>
        </p:nvCxnSpPr>
        <p:spPr>
          <a:xfrm>
            <a:off x="6420674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7A92E0B-B060-48FA-A650-36894FF4B216}"/>
              </a:ext>
            </a:extLst>
          </p:cNvPr>
          <p:cNvCxnSpPr/>
          <p:nvPr userDrawn="1"/>
        </p:nvCxnSpPr>
        <p:spPr>
          <a:xfrm>
            <a:off x="9335385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space réservé d’image 33">
            <a:extLst>
              <a:ext uri="{FF2B5EF4-FFF2-40B4-BE49-F238E27FC236}">
                <a16:creationId xmlns:a16="http://schemas.microsoft.com/office/drawing/2014/main" id="{D9056F2B-EAFD-4A57-BB92-D14816C84DD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" y="1739900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5" name="Espace réservé d’image 33">
            <a:extLst>
              <a:ext uri="{FF2B5EF4-FFF2-40B4-BE49-F238E27FC236}">
                <a16:creationId xmlns:a16="http://schemas.microsoft.com/office/drawing/2014/main" id="{E65006DE-F797-4019-BB72-F484F9FE7E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29813" y="4263232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6" name="Espace réservé d’image 33">
            <a:extLst>
              <a:ext uri="{FF2B5EF4-FFF2-40B4-BE49-F238E27FC236}">
                <a16:creationId xmlns:a16="http://schemas.microsoft.com/office/drawing/2014/main" id="{0947D252-5545-4406-8764-B7712464DA5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744524" y="1739900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8" name="Espace réservé d’image 33">
            <a:extLst>
              <a:ext uri="{FF2B5EF4-FFF2-40B4-BE49-F238E27FC236}">
                <a16:creationId xmlns:a16="http://schemas.microsoft.com/office/drawing/2014/main" id="{DD89F80C-C1D7-4F63-BAD2-F4EE1F9A162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659235" y="4263232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0" name="Espace réservé du texte 39">
            <a:extLst>
              <a:ext uri="{FF2B5EF4-FFF2-40B4-BE49-F238E27FC236}">
                <a16:creationId xmlns:a16="http://schemas.microsoft.com/office/drawing/2014/main" id="{08BBFEC8-B6BE-4768-9284-26D98C06FF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3949700"/>
            <a:ext cx="2336800" cy="18542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1" name="Espace réservé du texte 39">
            <a:extLst>
              <a:ext uri="{FF2B5EF4-FFF2-40B4-BE49-F238E27FC236}">
                <a16:creationId xmlns:a16="http://schemas.microsoft.com/office/drawing/2014/main" id="{D12C79C2-427D-418B-8FFA-C27D8F2C9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5963" y="1595835"/>
            <a:ext cx="2336800" cy="1854200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2" name="Espace réservé du texte 39">
            <a:extLst>
              <a:ext uri="{FF2B5EF4-FFF2-40B4-BE49-F238E27FC236}">
                <a16:creationId xmlns:a16="http://schemas.microsoft.com/office/drawing/2014/main" id="{0FD568C4-A06D-4A56-B7D6-AF338F5C32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674" y="3949700"/>
            <a:ext cx="2336800" cy="18542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3" name="Espace réservé du texte 39">
            <a:extLst>
              <a:ext uri="{FF2B5EF4-FFF2-40B4-BE49-F238E27FC236}">
                <a16:creationId xmlns:a16="http://schemas.microsoft.com/office/drawing/2014/main" id="{76B41443-1233-4172-B61C-7CC516D888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35385" y="1595835"/>
            <a:ext cx="2336800" cy="1854200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</p:spTree>
    <p:extLst>
      <p:ext uri="{BB962C8B-B14F-4D97-AF65-F5344CB8AC3E}">
        <p14:creationId xmlns:p14="http://schemas.microsoft.com/office/powerpoint/2010/main" val="2108078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60351"/>
            <a:ext cx="6168473" cy="758824"/>
          </a:xfrm>
        </p:spPr>
        <p:txBody>
          <a:bodyPr rtlCol="0"/>
          <a:lstStyle/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 userDrawn="1"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 userDrawn="1"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 userDrawn="1"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 userDrawn="1"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 userDrawn="1"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Triangle isocèle 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 userDrawn="1"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9" name="Triangle isocèle 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 userDrawn="1"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4" name="Triangle isocèle 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 userDrawn="1"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5" name="Espace réservé d’image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133588" y="561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6" name="Espace réservé d’image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421034" y="2847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7" name="Espace réservé d’image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33588" y="5133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8" name="Espace réservé d’image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7" name="Espace réservé du texte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8" name="Espace réservé du texte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9" name="Espace réservé du texte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</p:spTree>
    <p:extLst>
      <p:ext uri="{BB962C8B-B14F-4D97-AF65-F5344CB8AC3E}">
        <p14:creationId xmlns:p14="http://schemas.microsoft.com/office/powerpoint/2010/main" val="2014259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8" name="Espace réservé d’image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20" name="Espace réservé d’image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66711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5" name="Espace réservé d’image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08135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6" name="Espace réservé d’image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749558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7" name="Espace réservé d’image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435088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 userDrawn="1"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 userDrawn="1"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 userDrawn="1"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 userDrawn="1"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8" name="Espace réservé du texte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0" name="Espace réservé du texte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1" name="Espace réservé du texte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2" name="Espace réservé du texte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 userDrawn="1"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 userDrawn="1"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 userDrawn="1"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 userDrawn="1"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8721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8" name="Espace réservé d’image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 userDrawn="1"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Connecteur droit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 userDrawn="1"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Espace réservé du texte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0" name="Espace réservé du texte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1" name="Espace réservé du texte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2" name="Espace réservé du texte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3" name="Espace réservé d’image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27571" y="1437538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4" name="Espace réservé d’image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227571" y="2715650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5" name="Espace réservé d’image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27571" y="4043892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6" name="Espace réservé d’image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227571" y="5368250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72809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 userDrawn="1"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 userDrawn="1"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7" name="Rectangle 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 userDrawn="1"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3" name="Espace réservé d’image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5473" y="1713955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 userDrawn="1"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 userDrawn="1"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9" name="Espace réservé du texte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5" name="Espace réservé du texte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 userDrawn="1"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 userDrawn="1"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9" name="Espace réservé du texte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50" name="Espace réservé du texte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51" name="Espace réservé d’image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15473" y="4253638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2" name="Espace réservé d’image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15151" y="4253638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3" name="Espace réservé d’image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415151" y="1713954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627732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1" name="Rectangle 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 userDrawn="1"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 userDrawn="1"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 userDrawn="1"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space réservé d’image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7420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8" name="Espace réservé d’image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412045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9" name="Espace réservé d’image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56669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0" name="Espace réservé d’image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301294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1" name="Espace réservé du texte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3" name="Espace réservé du texte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7" name="Espace réservé du texte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8" name="Espace réservé du texte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0" name="Espace réservé du texte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1" name="Espace réservé du texte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2" name="Espace réservé du texte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4" name="Espace réservé du texte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</p:spTree>
    <p:extLst>
      <p:ext uri="{BB962C8B-B14F-4D97-AF65-F5344CB8AC3E}">
        <p14:creationId xmlns:p14="http://schemas.microsoft.com/office/powerpoint/2010/main" val="1884734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 userDrawn="1"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 userDrawn="1"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7" name="Rectangle 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 userDrawn="1"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 userDrawn="1"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space réservé d’image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7420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8" name="Espace réservé d’image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412045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9" name="Espace réservé d’image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56669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0" name="Espace réservé d’image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301294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1" name="Espace réservé du texte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3" name="Espace réservé du texte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7" name="Espace réservé du texte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8" name="Espace réservé du texte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0" name="Espace réservé du texte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1" name="Espace réservé du texte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2" name="Espace réservé du texte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4" name="Espace réservé du texte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</p:spTree>
    <p:extLst>
      <p:ext uri="{BB962C8B-B14F-4D97-AF65-F5344CB8AC3E}">
        <p14:creationId xmlns:p14="http://schemas.microsoft.com/office/powerpoint/2010/main" val="5653828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e graphique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900613" y="1233488"/>
            <a:ext cx="699135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28258E-48B5-471F-BC61-B45FB2CA51BA}"/>
              </a:ext>
            </a:extLst>
          </p:cNvPr>
          <p:cNvSpPr/>
          <p:nvPr userDrawn="1"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867FAC3-5109-4D5D-8105-FC48313396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100" y="1450975"/>
            <a:ext cx="4065588" cy="4552950"/>
          </a:xfrm>
        </p:spPr>
        <p:txBody>
          <a:bodyPr rtlCol="0">
            <a:normAutofit/>
          </a:bodyPr>
          <a:lstStyle>
            <a:lvl1pPr>
              <a:buNone/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596796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e graphique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71475" y="1233488"/>
            <a:ext cx="11520488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</p:spTree>
    <p:extLst>
      <p:ext uri="{BB962C8B-B14F-4D97-AF65-F5344CB8AC3E}">
        <p14:creationId xmlns:p14="http://schemas.microsoft.com/office/powerpoint/2010/main" val="25895297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e graphique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71475" y="1233488"/>
            <a:ext cx="7450621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940675" y="1233488"/>
            <a:ext cx="3951288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840593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e graphique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81415" y="1233488"/>
            <a:ext cx="551249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  <p:sp>
        <p:nvSpPr>
          <p:cNvPr id="7" name="Espace réservé de graphique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379473" y="1233488"/>
            <a:ext cx="551249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 userDrawn="1"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5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e graphique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10622" y="1362696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  <p:sp>
        <p:nvSpPr>
          <p:cNvPr id="9" name="Espace réservé de graphique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500682" y="3781218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  <p:sp>
        <p:nvSpPr>
          <p:cNvPr id="10" name="Espace réservé de graphique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6208643" y="1367561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  <p:sp>
        <p:nvSpPr>
          <p:cNvPr id="11" name="Espace réservé de graphique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 hasCustomPrompt="1"/>
          </p:nvPr>
        </p:nvSpPr>
        <p:spPr>
          <a:xfrm>
            <a:off x="6198703" y="3786083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</p:spTree>
    <p:extLst>
      <p:ext uri="{BB962C8B-B14F-4D97-AF65-F5344CB8AC3E}">
        <p14:creationId xmlns:p14="http://schemas.microsoft.com/office/powerpoint/2010/main" val="1020844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rtlCol="0"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27575380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9C3DD3-9184-4434-93FC-DDB3E5B5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302458-F7EC-4A75-A897-E73CF8028E7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FD31584-D229-4F6C-BA8E-36782FDA8DA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2B7AE8-665C-4FF6-B292-B525984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903189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E2ACFC-0D65-4857-AAEE-904747F3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8A594C5E-E06C-488C-AC82-331C53B94F1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EC8C27-FA57-408C-8D6B-844D81BC831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7" name="Espace réservé du numéro de diapositive 6">
            <a:extLst>
              <a:ext uri="{FF2B5EF4-FFF2-40B4-BE49-F238E27FC236}">
                <a16:creationId xmlns:a16="http://schemas.microsoft.com/office/drawing/2014/main" id="{E468A18F-96D4-4F1F-BF6B-EDFACBF8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8034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0060ACE-E228-45FD-83E3-FF4D1C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88AF9FF-2A4E-41E6-956B-69BC625CC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E1F87C-C7F2-4F14-86B1-854B7B0C580E}"/>
              </a:ext>
            </a:extLst>
          </p:cNvPr>
          <p:cNvSpPr/>
          <p:nvPr userDrawn="1"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FD9470-E137-41DF-A5CA-C7B4B985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rtl="0"/>
            <a:fld id="{03DC2DEF-D2FE-4B45-ABA4-9F153FD1C98A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AB12CC-D752-4664-B92F-BAEFF0416B7E}"/>
              </a:ext>
            </a:extLst>
          </p:cNvPr>
          <p:cNvSpPr/>
          <p:nvPr userDrawn="1"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43458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52" r:id="rId18"/>
    <p:sldLayoutId id="2147483674" r:id="rId19"/>
    <p:sldLayoutId id="2147483675" r:id="rId20"/>
    <p:sldLayoutId id="2147483676" r:id="rId21"/>
    <p:sldLayoutId id="2147483677" r:id="rId22"/>
    <p:sldLayoutId id="2147483655" r:id="rId23"/>
    <p:sldLayoutId id="2147483678" r:id="rId24"/>
    <p:sldLayoutId id="2147483679" r:id="rId25"/>
    <p:sldLayoutId id="2147483680" r:id="rId26"/>
    <p:sldLayoutId id="2147483681" r:id="rId27"/>
    <p:sldLayoutId id="2147483653" r:id="rId28"/>
    <p:sldLayoutId id="2147483682" r:id="rId29"/>
    <p:sldLayoutId id="2147483683" r:id="rId30"/>
    <p:sldLayoutId id="2147483684" r:id="rId31"/>
    <p:sldLayoutId id="2147483685" r:id="rId32"/>
    <p:sldLayoutId id="2147483654" r:id="rId33"/>
    <p:sldLayoutId id="2147483686" r:id="rId34"/>
    <p:sldLayoutId id="2147483687" r:id="rId35"/>
    <p:sldLayoutId id="2147483689" r:id="rId36"/>
    <p:sldLayoutId id="2147483688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656" r:id="rId51"/>
    <p:sldLayoutId id="2147483657" r:id="rId5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  <p15:guide id="4" pos="7491" userDrawn="1">
          <p15:clr>
            <a:srgbClr val="F26B43"/>
          </p15:clr>
        </p15:guide>
        <p15:guide id="5" orient="horz" pos="640" userDrawn="1">
          <p15:clr>
            <a:srgbClr val="F26B43"/>
          </p15:clr>
        </p15:guide>
        <p15:guide id="6" orient="horz" pos="777" userDrawn="1">
          <p15:clr>
            <a:srgbClr val="F26B43"/>
          </p15:clr>
        </p15:guide>
        <p15:guide id="7" orient="horz" pos="4020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436237"/>
            <a:ext cx="4412419" cy="27325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3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Analysez</a:t>
            </a:r>
            <a:r>
              <a:rPr lang="en-US" sz="3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des </a:t>
            </a:r>
            <a:r>
              <a:rPr lang="en-US" sz="3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indicateurs</a:t>
            </a:r>
            <a:r>
              <a:rPr lang="en-US" sz="3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l'égalité</a:t>
            </a:r>
            <a:r>
              <a:rPr lang="en-US" sz="3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femmes/hommes </a:t>
            </a:r>
            <a:br>
              <a:rPr lang="en-US" sz="3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3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respect du RGPD</a:t>
            </a:r>
          </a:p>
        </p:txBody>
      </p:sp>
      <p:cxnSp>
        <p:nvCxnSpPr>
          <p:cNvPr id="23" name="Straight Connector 1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 descr="Une image contenant capture d’écran, Graphique, Bleu électrique, conception&#10;&#10;Le contenu généré par l’IA peut être incorrect.">
            <a:extLst>
              <a:ext uri="{FF2B5EF4-FFF2-40B4-BE49-F238E27FC236}">
                <a16:creationId xmlns:a16="http://schemas.microsoft.com/office/drawing/2014/main" id="{3E11DFC3-BEB0-14DC-CB61-0A09268D6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925" y="2747415"/>
            <a:ext cx="5664133" cy="2421416"/>
          </a:xfrm>
          <a:prstGeom prst="rect">
            <a:avLst/>
          </a:prstGeom>
        </p:spPr>
      </p:pic>
      <p:grpSp>
        <p:nvGrpSpPr>
          <p:cNvPr id="24" name="Group 18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20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9" name="ZoneTexte 8">
            <a:extLst>
              <a:ext uri="{FF2B5EF4-FFF2-40B4-BE49-F238E27FC236}">
                <a16:creationId xmlns:a16="http://schemas.microsoft.com/office/drawing/2014/main" id="{BA6A0E7F-BD90-D213-41E8-6B96FAF08E9D}"/>
              </a:ext>
            </a:extLst>
          </p:cNvPr>
          <p:cNvSpPr txBox="1"/>
          <p:nvPr/>
        </p:nvSpPr>
        <p:spPr>
          <a:xfrm>
            <a:off x="2750889" y="5644083"/>
            <a:ext cx="2118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>
                <a:solidFill>
                  <a:schemeClr val="bg1"/>
                </a:solidFill>
              </a:rPr>
              <a:t>Marvin KANGBENI</a:t>
            </a:r>
          </a:p>
        </p:txBody>
      </p:sp>
      <p:pic>
        <p:nvPicPr>
          <p:cNvPr id="2" name="Image 1" descr="Une image contenant Graphique, symbole, clipart, graphisme&#10;&#10;Le contenu généré par l’IA peut être incorrect.">
            <a:extLst>
              <a:ext uri="{FF2B5EF4-FFF2-40B4-BE49-F238E27FC236}">
                <a16:creationId xmlns:a16="http://schemas.microsoft.com/office/drawing/2014/main" id="{AF2541F6-94C8-AF4D-6D87-3C261CD46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2565" y="69918"/>
            <a:ext cx="1785731" cy="6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DE253D32-8B7B-47D0-BB63-402C3DB9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fr-FR" dirty="0"/>
              <a:t>Sommaire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1D6EB617-E017-4B26-9576-8578E9489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fr-FR" dirty="0"/>
              <a:t>Présentation des données</a:t>
            </a:r>
          </a:p>
          <a:p>
            <a:pPr rtl="0"/>
            <a:r>
              <a:rPr lang="fr-FR" dirty="0"/>
              <a:t>Préparation des données, anonymisation et  RGPD</a:t>
            </a:r>
          </a:p>
          <a:p>
            <a:pPr rtl="0"/>
            <a:r>
              <a:rPr lang="fr-FR" dirty="0"/>
              <a:t>Analyse et visualisation des 5 indicateurs</a:t>
            </a:r>
          </a:p>
          <a:p>
            <a:pPr rtl="0"/>
            <a:r>
              <a:rPr lang="fr-FR" dirty="0"/>
              <a:t>Score final de l’entreprise et recommandations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C183CA-19AD-485E-AEC5-FC032D45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smtClean="0"/>
              <a:t>2</a:t>
            </a:fld>
            <a:endParaRPr lang="fr-FR"/>
          </a:p>
        </p:txBody>
      </p:sp>
      <p:pic>
        <p:nvPicPr>
          <p:cNvPr id="10" name="Espace réservé d’image 9">
            <a:extLst>
              <a:ext uri="{FF2B5EF4-FFF2-40B4-BE49-F238E27FC236}">
                <a16:creationId xmlns:a16="http://schemas.microsoft.com/office/drawing/2014/main" id="{618DD966-19F0-4350-AC58-AE86C210B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3" name="Image 2" descr="Une image contenant Graphique, symbole, clipart, graphisme&#10;&#10;Le contenu généré par l’IA peut être incorrect.">
            <a:extLst>
              <a:ext uri="{FF2B5EF4-FFF2-40B4-BE49-F238E27FC236}">
                <a16:creationId xmlns:a16="http://schemas.microsoft.com/office/drawing/2014/main" id="{5B8D44DE-3449-8B92-79D9-7C793A5AE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2565" y="69918"/>
            <a:ext cx="1785731" cy="6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311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5">
            <a:extLst>
              <a:ext uri="{FF2B5EF4-FFF2-40B4-BE49-F238E27FC236}">
                <a16:creationId xmlns:a16="http://schemas.microsoft.com/office/drawing/2014/main" id="{2C00B059-8249-401E-BECD-DC838B36F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Présentation des données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81E71C2-3FC1-41C1-8255-33A1AC80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smtClean="0"/>
              <a:t>3</a:t>
            </a:fld>
            <a:endParaRPr lang="fr-FR" dirty="0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42596E-DB09-43F7-A053-18CEB2DDE6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1450975"/>
            <a:ext cx="2433768" cy="4551792"/>
          </a:xfrm>
        </p:spPr>
        <p:txBody>
          <a:bodyPr rtlCol="0">
            <a:normAutofit/>
          </a:bodyPr>
          <a:lstStyle/>
          <a:p>
            <a:pPr rtl="0"/>
            <a:r>
              <a:rPr lang="fr-FR" sz="2000" dirty="0"/>
              <a:t>3 fichiers 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fr-FR" sz="2000" dirty="0" err="1"/>
              <a:t>Infos_pro</a:t>
            </a:r>
            <a:endParaRPr lang="fr-FR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fr-FR" sz="2000" dirty="0"/>
              <a:t>Rémunération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fr-FR" sz="2000" dirty="0"/>
              <a:t>Salariés</a:t>
            </a:r>
          </a:p>
          <a:p>
            <a:pPr marL="0" indent="0" rtl="0"/>
            <a:endParaRPr lang="fr-FR" sz="2000" dirty="0"/>
          </a:p>
          <a:p>
            <a:pPr marL="0" indent="0" rtl="0"/>
            <a:r>
              <a:rPr lang="fr-FR" sz="2000" dirty="0"/>
              <a:t>Données personnelles mais pas nécessairement sensibles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75C7D05-C5D6-026D-5D2C-CA96AC56F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271" y="1019175"/>
            <a:ext cx="8664691" cy="160033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707B650-D6D4-FFDF-039A-F0DE78FAE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271" y="2760976"/>
            <a:ext cx="8664691" cy="157060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211221A-C378-D5DB-19AC-93858DE5E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7271" y="4543890"/>
            <a:ext cx="8702792" cy="1534773"/>
          </a:xfrm>
          <a:prstGeom prst="rect">
            <a:avLst/>
          </a:prstGeom>
        </p:spPr>
      </p:pic>
      <p:pic>
        <p:nvPicPr>
          <p:cNvPr id="2" name="Image 1" descr="Une image contenant Graphique, symbole, clipart, graphisme&#10;&#10;Le contenu généré par l’IA peut être incorrect.">
            <a:extLst>
              <a:ext uri="{FF2B5EF4-FFF2-40B4-BE49-F238E27FC236}">
                <a16:creationId xmlns:a16="http://schemas.microsoft.com/office/drawing/2014/main" id="{21790DF5-2621-5442-E7A5-F987B40E37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2565" y="69918"/>
            <a:ext cx="1785731" cy="6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26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0B19D-11E7-4C9D-8C8E-F71426919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5">
            <a:extLst>
              <a:ext uri="{FF2B5EF4-FFF2-40B4-BE49-F238E27FC236}">
                <a16:creationId xmlns:a16="http://schemas.microsoft.com/office/drawing/2014/main" id="{36EE2266-C699-E7B2-0A4A-ED9A5AB2A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fr-FR" dirty="0"/>
              <a:t>Préparation des données, anonymisation et  RGPD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5275F4D-2E20-720A-D39A-E085D1D00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smtClean="0"/>
              <a:t>4</a:t>
            </a:fld>
            <a:endParaRPr lang="fr-FR" dirty="0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D13097DF-84BE-D4EE-71BA-CB7F1D32BF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099" y="1450975"/>
            <a:ext cx="4042525" cy="4567440"/>
          </a:xfrm>
        </p:spPr>
        <p:txBody>
          <a:bodyPr rtlCol="0">
            <a:normAutofit/>
          </a:bodyPr>
          <a:lstStyle/>
          <a:p>
            <a:pPr rtl="0"/>
            <a:r>
              <a:rPr lang="fr-FR" sz="2000" u="sng" dirty="0"/>
              <a:t>Préparation des données 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fr-FR" sz="2000" dirty="0"/>
              <a:t>Suppression des doublons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fr-FR" sz="2000" dirty="0"/>
              <a:t>Traitement des données manquantes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fr-FR" sz="2000" dirty="0"/>
              <a:t>Changements de types </a:t>
            </a:r>
          </a:p>
          <a:p>
            <a:pPr marL="0" indent="0" rtl="0"/>
            <a:r>
              <a:rPr lang="fr-FR" sz="2000" dirty="0"/>
              <a:t>(ex : booléens -&gt; ‘Oui’ / ’Non’)</a:t>
            </a:r>
          </a:p>
          <a:p>
            <a:pPr marL="0" indent="0" rtl="0"/>
            <a:endParaRPr lang="fr-FR" sz="2000" dirty="0"/>
          </a:p>
          <a:p>
            <a:pPr marL="0" indent="0" rtl="0"/>
            <a:r>
              <a:rPr lang="fr-FR" sz="2000" u="sng" dirty="0"/>
              <a:t>Anonymisation 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fr-FR" sz="2000" dirty="0"/>
              <a:t>Suppression des noms et n° de téléphone des employés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6CDA504-2FF2-BC8F-44AD-D0DCD1A45ECA}"/>
              </a:ext>
            </a:extLst>
          </p:cNvPr>
          <p:cNvSpPr txBox="1"/>
          <p:nvPr/>
        </p:nvSpPr>
        <p:spPr>
          <a:xfrm>
            <a:off x="5569528" y="1450974"/>
            <a:ext cx="386541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Respect du RGPD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Finalité : Calcul du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Données anonymisées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Données minimisées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Conservation : jusqu’à</a:t>
            </a:r>
          </a:p>
          <a:p>
            <a:r>
              <a:rPr lang="fr-FR" dirty="0"/>
              <a:t>publication du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4" name="Image 3" descr="Une image contenant Graphique, symbole, clipart, graphisme&#10;&#10;Le contenu généré par l’IA peut être incorrect.">
            <a:extLst>
              <a:ext uri="{FF2B5EF4-FFF2-40B4-BE49-F238E27FC236}">
                <a16:creationId xmlns:a16="http://schemas.microsoft.com/office/drawing/2014/main" id="{0EC9C897-72D4-7CB6-E227-DC12C2C5E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2565" y="69918"/>
            <a:ext cx="1785731" cy="6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413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C0705-CBF1-08ED-840C-DA2F09866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8D534295-0F84-577A-F133-82D33728576E}"/>
              </a:ext>
            </a:extLst>
          </p:cNvPr>
          <p:cNvSpPr/>
          <p:nvPr/>
        </p:nvSpPr>
        <p:spPr>
          <a:xfrm>
            <a:off x="7048007" y="6276869"/>
            <a:ext cx="599702" cy="39582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Titre 15">
            <a:extLst>
              <a:ext uri="{FF2B5EF4-FFF2-40B4-BE49-F238E27FC236}">
                <a16:creationId xmlns:a16="http://schemas.microsoft.com/office/drawing/2014/main" id="{63267438-0A43-4BA0-95D6-E2ADB9CA7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</p:spPr>
        <p:txBody>
          <a:bodyPr rtlCol="0" anchor="ctr">
            <a:normAutofit/>
          </a:bodyPr>
          <a:lstStyle/>
          <a:p>
            <a:pPr rtl="0"/>
            <a:r>
              <a:rPr lang="fr-FR" dirty="0"/>
              <a:t>Analyse et visualisation : Parité effectifs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0B46F8C-A69B-11C9-AEB0-8F82F4786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279" y="1023141"/>
            <a:ext cx="5049969" cy="4065226"/>
          </a:xfrm>
          <a:prstGeom prst="rect">
            <a:avLst/>
          </a:prstGeom>
          <a:noFill/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592AF0A-7934-4002-48D7-AF42AC314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03DC2DEF-D2FE-4B45-ABA4-9F153FD1C98A}" type="slidenum">
              <a:rPr lang="fr-FR" sz="8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fr-FR" sz="80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CDBB74CD-0585-2F7A-F6A6-3A8C7D13B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349" y="1077365"/>
            <a:ext cx="4788373" cy="4118000"/>
          </a:xfrm>
          <a:prstGeom prst="rect">
            <a:avLst/>
          </a:prstGeom>
          <a:noFill/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AE7D6DCC-7B32-5842-5F3F-7D7ED68F53E7}"/>
              </a:ext>
            </a:extLst>
          </p:cNvPr>
          <p:cNvSpPr txBox="1"/>
          <p:nvPr/>
        </p:nvSpPr>
        <p:spPr>
          <a:xfrm>
            <a:off x="2009563" y="5195365"/>
            <a:ext cx="85774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Plus de femmes dans les fonctions de support, moins dans les fonctions techniques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Score de chaque service : 20 si plus de femmes, sinon 1 point en moins par % non paritaire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Score de l’indicateur : </a:t>
            </a:r>
            <a:r>
              <a:rPr lang="fr-FR" b="1" dirty="0">
                <a:solidFill>
                  <a:schemeClr val="bg1"/>
                </a:solidFill>
              </a:rPr>
              <a:t>15.86</a:t>
            </a:r>
          </a:p>
        </p:txBody>
      </p:sp>
      <p:pic>
        <p:nvPicPr>
          <p:cNvPr id="2" name="Image 1" descr="Une image contenant Graphique, symbole, clipart, graphisme&#10;&#10;Le contenu généré par l’IA peut être incorrect.">
            <a:extLst>
              <a:ext uri="{FF2B5EF4-FFF2-40B4-BE49-F238E27FC236}">
                <a16:creationId xmlns:a16="http://schemas.microsoft.com/office/drawing/2014/main" id="{4C15EC8F-3C3B-13EA-4562-0487A5ECE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2565" y="69918"/>
            <a:ext cx="1785731" cy="6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737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79A4-4F65-B49C-210B-FD2078E67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588F873-C77A-74E2-63A9-82778E04C7AE}"/>
              </a:ext>
            </a:extLst>
          </p:cNvPr>
          <p:cNvSpPr/>
          <p:nvPr/>
        </p:nvSpPr>
        <p:spPr>
          <a:xfrm>
            <a:off x="10065528" y="4123882"/>
            <a:ext cx="373062" cy="32078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Titre 15">
            <a:extLst>
              <a:ext uri="{FF2B5EF4-FFF2-40B4-BE49-F238E27FC236}">
                <a16:creationId xmlns:a16="http://schemas.microsoft.com/office/drawing/2014/main" id="{C2E33ADA-97C9-715B-27D6-E74AD7D96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</p:spPr>
        <p:txBody>
          <a:bodyPr rtlCol="0" anchor="ctr">
            <a:normAutofit/>
          </a:bodyPr>
          <a:lstStyle/>
          <a:p>
            <a:pPr rtl="0"/>
            <a:r>
              <a:rPr lang="fr-FR" dirty="0"/>
              <a:t>Analyse et visualisation : Augmentations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A30D0BB-A3D9-A9AA-8991-DB5567E2C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03DC2DEF-D2FE-4B45-ABA4-9F153FD1C98A}" type="slidenum">
              <a:rPr lang="fr-FR" sz="8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fr-FR" sz="80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B0BADCE-5E19-5521-73E5-590E61C75A73}"/>
              </a:ext>
            </a:extLst>
          </p:cNvPr>
          <p:cNvSpPr txBox="1"/>
          <p:nvPr/>
        </p:nvSpPr>
        <p:spPr>
          <a:xfrm>
            <a:off x="6696407" y="2413337"/>
            <a:ext cx="50090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Calcul du score : 20 si femmes favorisées, sinon retrait de 1 point par % d’écart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Nette favorisation des femmes,</a:t>
            </a:r>
          </a:p>
          <a:p>
            <a:pPr algn="ctr"/>
            <a:r>
              <a:rPr lang="fr-FR" dirty="0"/>
              <a:t>sur-correction bienvenue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Score de l’indicateur :  </a:t>
            </a:r>
            <a:r>
              <a:rPr lang="fr-FR" b="1" dirty="0">
                <a:solidFill>
                  <a:schemeClr val="bg1"/>
                </a:solidFill>
              </a:rPr>
              <a:t>20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4D849B8-E475-9016-3EA1-078098D8C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1366221"/>
            <a:ext cx="6141363" cy="5045336"/>
          </a:xfrm>
          <a:prstGeom prst="rect">
            <a:avLst/>
          </a:prstGeom>
        </p:spPr>
      </p:pic>
      <p:pic>
        <p:nvPicPr>
          <p:cNvPr id="2" name="Image 1" descr="Une image contenant Graphique, symbole, clipart, graphisme&#10;&#10;Le contenu généré par l’IA peut être incorrect.">
            <a:extLst>
              <a:ext uri="{FF2B5EF4-FFF2-40B4-BE49-F238E27FC236}">
                <a16:creationId xmlns:a16="http://schemas.microsoft.com/office/drawing/2014/main" id="{35E29CC7-A755-9020-C80D-3D07DED48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2565" y="69918"/>
            <a:ext cx="1785731" cy="6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67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76DA7-A313-25A1-B6CA-83E8D68F3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09D17E82-2E1B-15E2-BD64-8949EC4D23FC}"/>
              </a:ext>
            </a:extLst>
          </p:cNvPr>
          <p:cNvSpPr/>
          <p:nvPr/>
        </p:nvSpPr>
        <p:spPr>
          <a:xfrm>
            <a:off x="6666295" y="6276869"/>
            <a:ext cx="640591" cy="32078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Titre 15">
            <a:extLst>
              <a:ext uri="{FF2B5EF4-FFF2-40B4-BE49-F238E27FC236}">
                <a16:creationId xmlns:a16="http://schemas.microsoft.com/office/drawing/2014/main" id="{F2AF26EA-E440-F3F8-3CAC-BCA4EF3DA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</p:spPr>
        <p:txBody>
          <a:bodyPr rtlCol="0" anchor="ctr">
            <a:normAutofit/>
          </a:bodyPr>
          <a:lstStyle/>
          <a:p>
            <a:pPr rtl="0"/>
            <a:r>
              <a:rPr lang="fr-FR" dirty="0"/>
              <a:t>Analyse et visualisation : Contrats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2854140-C22F-BDA3-74B2-7B76F9BC5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03DC2DEF-D2FE-4B45-ABA4-9F153FD1C98A}" type="slidenum">
              <a:rPr lang="fr-FR" sz="8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fr-FR" sz="80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1B3289E-A51A-AD97-A04E-6702D0B91E71}"/>
              </a:ext>
            </a:extLst>
          </p:cNvPr>
          <p:cNvSpPr txBox="1"/>
          <p:nvPr/>
        </p:nvSpPr>
        <p:spPr>
          <a:xfrm>
            <a:off x="2380032" y="5120321"/>
            <a:ext cx="71176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Calcul du score : 20 pour la parité, sinon retrait de 1 point par % d’écart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Femmes plus précarisées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Score de l’indicateur : </a:t>
            </a:r>
            <a:r>
              <a:rPr lang="fr-FR" b="1" dirty="0">
                <a:solidFill>
                  <a:schemeClr val="bg1"/>
                </a:solidFill>
              </a:rPr>
              <a:t>15.02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8DFC4EB-E0FB-B551-03CD-9D640A715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546" y="1022141"/>
            <a:ext cx="4051304" cy="409817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FF97FD1-16EB-1305-13B8-F60010751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084" y="1019175"/>
            <a:ext cx="4045874" cy="4101146"/>
          </a:xfrm>
          <a:prstGeom prst="rect">
            <a:avLst/>
          </a:prstGeom>
        </p:spPr>
      </p:pic>
      <p:pic>
        <p:nvPicPr>
          <p:cNvPr id="2" name="Image 1" descr="Une image contenant Graphique, symbole, clipart, graphisme&#10;&#10;Le contenu généré par l’IA peut être incorrect.">
            <a:extLst>
              <a:ext uri="{FF2B5EF4-FFF2-40B4-BE49-F238E27FC236}">
                <a16:creationId xmlns:a16="http://schemas.microsoft.com/office/drawing/2014/main" id="{F3442D57-C6B4-90AD-2F14-1D3E5C9C69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2565" y="69918"/>
            <a:ext cx="1785731" cy="6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499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D5C6A-1200-293A-C978-0738448A0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BDE51375-74A1-8ED1-16AF-27DEC59AE5EE}"/>
              </a:ext>
            </a:extLst>
          </p:cNvPr>
          <p:cNvSpPr/>
          <p:nvPr/>
        </p:nvSpPr>
        <p:spPr>
          <a:xfrm>
            <a:off x="6964880" y="6261198"/>
            <a:ext cx="373062" cy="32078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Titre 15">
            <a:extLst>
              <a:ext uri="{FF2B5EF4-FFF2-40B4-BE49-F238E27FC236}">
                <a16:creationId xmlns:a16="http://schemas.microsoft.com/office/drawing/2014/main" id="{2B7DD11F-657B-E33D-0751-BF23468DA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</p:spPr>
        <p:txBody>
          <a:bodyPr rtlCol="0" anchor="ctr">
            <a:normAutofit/>
          </a:bodyPr>
          <a:lstStyle/>
          <a:p>
            <a:pPr rtl="0"/>
            <a:r>
              <a:rPr lang="fr-FR" dirty="0"/>
              <a:t>Analyse et visualisation : Accidents de travail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A22076E-E0E4-70C7-52F6-A37D1BA77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03DC2DEF-D2FE-4B45-ABA4-9F153FD1C98A}" type="slidenum">
              <a:rPr lang="fr-FR" sz="8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fr-FR" sz="80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EDF59CC-6E81-B43D-7687-1225339843CF}"/>
              </a:ext>
            </a:extLst>
          </p:cNvPr>
          <p:cNvSpPr txBox="1"/>
          <p:nvPr/>
        </p:nvSpPr>
        <p:spPr>
          <a:xfrm>
            <a:off x="2537182" y="5140837"/>
            <a:ext cx="71176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Calcul du score : 20 pour la parité, sinon retrait de 1 point par % d’écart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Le taux d’accidents est très paritaire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Score de l’indicateur :  </a:t>
            </a:r>
            <a:r>
              <a:rPr lang="fr-FR" b="1" dirty="0">
                <a:solidFill>
                  <a:schemeClr val="bg1"/>
                </a:solidFill>
              </a:rPr>
              <a:t>20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E73B8F-F06F-F30E-E622-03FFE6D1A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472" y="1019175"/>
            <a:ext cx="4275584" cy="412166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C17AC8F-D586-8EB7-F2FD-67357351C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380" y="1024854"/>
            <a:ext cx="4254620" cy="4121663"/>
          </a:xfrm>
          <a:prstGeom prst="rect">
            <a:avLst/>
          </a:prstGeom>
        </p:spPr>
      </p:pic>
      <p:pic>
        <p:nvPicPr>
          <p:cNvPr id="2" name="Image 1" descr="Une image contenant Graphique, symbole, clipart, graphisme&#10;&#10;Le contenu généré par l’IA peut être incorrect.">
            <a:extLst>
              <a:ext uri="{FF2B5EF4-FFF2-40B4-BE49-F238E27FC236}">
                <a16:creationId xmlns:a16="http://schemas.microsoft.com/office/drawing/2014/main" id="{9124AA52-BE6B-E743-E44F-03BFB38C11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2565" y="69918"/>
            <a:ext cx="1785731" cy="6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339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AA3C6-51E4-52D1-5FF0-45DEAEC34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669B2E3B-03F1-8B45-CCB7-11D97C7F109C}"/>
              </a:ext>
            </a:extLst>
          </p:cNvPr>
          <p:cNvSpPr/>
          <p:nvPr/>
        </p:nvSpPr>
        <p:spPr>
          <a:xfrm>
            <a:off x="9924210" y="4174704"/>
            <a:ext cx="591390" cy="32078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Titre 15">
            <a:extLst>
              <a:ext uri="{FF2B5EF4-FFF2-40B4-BE49-F238E27FC236}">
                <a16:creationId xmlns:a16="http://schemas.microsoft.com/office/drawing/2014/main" id="{E283096B-EC4F-137F-9B82-E5DF9B0CD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</p:spPr>
        <p:txBody>
          <a:bodyPr rtlCol="0" anchor="ctr">
            <a:normAutofit/>
          </a:bodyPr>
          <a:lstStyle/>
          <a:p>
            <a:pPr rtl="0"/>
            <a:r>
              <a:rPr lang="fr-FR" dirty="0"/>
              <a:t>Analyse et visualisation : Salaires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5CC9514-DA8C-2041-94F8-E932707DD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03DC2DEF-D2FE-4B45-ABA4-9F153FD1C98A}" type="slidenum">
              <a:rPr lang="fr-FR" sz="8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fr-FR" sz="80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2FE1A8D-D6F0-CD74-14FE-B69D78507326}"/>
              </a:ext>
            </a:extLst>
          </p:cNvPr>
          <p:cNvSpPr txBox="1"/>
          <p:nvPr/>
        </p:nvSpPr>
        <p:spPr>
          <a:xfrm>
            <a:off x="7013985" y="1968649"/>
            <a:ext cx="43030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Ecart de salaire entre Femmes et Hommes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Calcul du score par catégorie : </a:t>
            </a:r>
          </a:p>
          <a:p>
            <a:pPr algn="ctr"/>
            <a:r>
              <a:rPr lang="fr-FR" dirty="0"/>
              <a:t>20 pour la parité, </a:t>
            </a:r>
          </a:p>
          <a:p>
            <a:pPr algn="ctr"/>
            <a:r>
              <a:rPr lang="fr-FR" dirty="0"/>
              <a:t>sinon retrait de 1 point par % d’écart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Score global : Moyenne des scores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Score de l’indicateur :  </a:t>
            </a:r>
            <a:r>
              <a:rPr lang="fr-FR" b="1" dirty="0">
                <a:solidFill>
                  <a:schemeClr val="bg1"/>
                </a:solidFill>
              </a:rPr>
              <a:t>17.35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1D3F41A2-4859-09CC-8D9D-CBBB3815D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66" y="1019175"/>
            <a:ext cx="5599413" cy="5763138"/>
          </a:xfrm>
          <a:prstGeom prst="rect">
            <a:avLst/>
          </a:prstGeom>
        </p:spPr>
      </p:pic>
      <p:pic>
        <p:nvPicPr>
          <p:cNvPr id="2" name="Image 1" descr="Une image contenant Graphique, symbole, clipart, graphisme&#10;&#10;Le contenu généré par l’IA peut être incorrect.">
            <a:extLst>
              <a:ext uri="{FF2B5EF4-FFF2-40B4-BE49-F238E27FC236}">
                <a16:creationId xmlns:a16="http://schemas.microsoft.com/office/drawing/2014/main" id="{BA8C04C8-8DE7-D631-7006-6FC76C956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2565" y="69918"/>
            <a:ext cx="1785731" cy="6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70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E320E-E762-2F0A-8A5E-E5E7DDE46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C53BCE60-156A-F5B5-C6B8-731CBF47F72F}"/>
              </a:ext>
            </a:extLst>
          </p:cNvPr>
          <p:cNvSpPr/>
          <p:nvPr/>
        </p:nvSpPr>
        <p:spPr>
          <a:xfrm>
            <a:off x="7091528" y="1582340"/>
            <a:ext cx="664737" cy="4116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Titre 15">
            <a:extLst>
              <a:ext uri="{FF2B5EF4-FFF2-40B4-BE49-F238E27FC236}">
                <a16:creationId xmlns:a16="http://schemas.microsoft.com/office/drawing/2014/main" id="{518AEA3B-8243-7C22-8C98-D43361ABD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</p:spPr>
        <p:txBody>
          <a:bodyPr rtlCol="0" anchor="ctr">
            <a:normAutofit/>
          </a:bodyPr>
          <a:lstStyle/>
          <a:p>
            <a:pPr rtl="0"/>
            <a:r>
              <a:rPr lang="fr-FR" dirty="0"/>
              <a:t>Score finale de l’entreprise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35C4AD8-75A3-07B0-1CAB-C94DE4EC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03DC2DEF-D2FE-4B45-ABA4-9F153FD1C98A}" type="slidenum">
              <a:rPr lang="fr-FR" sz="8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fr-FR" sz="80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14F2261-A4BC-EBD2-1BAC-545FB4CEF8B5}"/>
              </a:ext>
            </a:extLst>
          </p:cNvPr>
          <p:cNvSpPr txBox="1"/>
          <p:nvPr/>
        </p:nvSpPr>
        <p:spPr>
          <a:xfrm>
            <a:off x="3209794" y="1582340"/>
            <a:ext cx="584384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Score final de l’entreprise :  </a:t>
            </a:r>
            <a:r>
              <a:rPr lang="fr-FR" b="1" dirty="0">
                <a:solidFill>
                  <a:schemeClr val="bg1"/>
                </a:solidFill>
              </a:rPr>
              <a:t>88.23</a:t>
            </a:r>
          </a:p>
          <a:p>
            <a:pPr algn="ctr"/>
            <a:endParaRPr lang="fr-FR" b="1" u="sng" dirty="0"/>
          </a:p>
          <a:p>
            <a:pPr algn="ctr"/>
            <a:r>
              <a:rPr lang="fr-FR" dirty="0"/>
              <a:t>L’entreprise respecte plutôt bien l’égalité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Points de vigilances :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Disparités de salaires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Nombre de CDI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Plus de femmes aux postes techniques (ex: Informatique)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fr-FR" dirty="0"/>
          </a:p>
          <a:p>
            <a:pPr algn="ctr"/>
            <a:r>
              <a:rPr lang="fr-FR" dirty="0"/>
              <a:t>A confirmer avec le calcul de l’ensemble des indicateurs</a:t>
            </a:r>
          </a:p>
          <a:p>
            <a:endParaRPr lang="fr-FR" dirty="0"/>
          </a:p>
          <a:p>
            <a:endParaRPr lang="fr-FR" dirty="0"/>
          </a:p>
          <a:p>
            <a:pPr algn="ctr"/>
            <a:endParaRPr lang="fr-FR" dirty="0"/>
          </a:p>
        </p:txBody>
      </p:sp>
      <p:pic>
        <p:nvPicPr>
          <p:cNvPr id="2" name="Image 1" descr="Une image contenant Graphique, symbole, clipart, graphisme&#10;&#10;Le contenu généré par l’IA peut être incorrect.">
            <a:extLst>
              <a:ext uri="{FF2B5EF4-FFF2-40B4-BE49-F238E27FC236}">
                <a16:creationId xmlns:a16="http://schemas.microsoft.com/office/drawing/2014/main" id="{29BB3B2F-4D55-8CF3-2FE3-557160D74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2565" y="69918"/>
            <a:ext cx="1785731" cy="6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3196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MSFT_Color_1">
      <a:dk1>
        <a:srgbClr val="32363F"/>
      </a:dk1>
      <a:lt1>
        <a:sysClr val="window" lastClr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MSFT_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2570119_TF34126823" id="{1BA66332-570E-41C7-9121-94BD9CA98AED}" vid="{18C98CCA-5AC5-4C8A-A942-2AFB0327D883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Présentation attrayante classique en blocs</Template>
  <TotalTime>0</TotalTime>
  <Words>368</Words>
  <Application>Microsoft Office PowerPoint</Application>
  <PresentationFormat>Grand écran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Thème Office</vt:lpstr>
      <vt:lpstr>Analysez des indicateurs de l'égalité femmes/hommes  en respect du RGPD</vt:lpstr>
      <vt:lpstr>Sommaire</vt:lpstr>
      <vt:lpstr>Présentation des données</vt:lpstr>
      <vt:lpstr>Préparation des données, anonymisation et  RGPD</vt:lpstr>
      <vt:lpstr>Analyse et visualisation : Parité effectifs</vt:lpstr>
      <vt:lpstr>Analyse et visualisation : Augmentations</vt:lpstr>
      <vt:lpstr>Analyse et visualisation : Contrats</vt:lpstr>
      <vt:lpstr>Analyse et visualisation : Accidents de travail</vt:lpstr>
      <vt:lpstr>Analyse et visualisation : Salaires</vt:lpstr>
      <vt:lpstr>Score finale de l’entreprise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Marvin Kangbeni</dc:creator>
  <cp:lastModifiedBy>Marvin Kangbeni</cp:lastModifiedBy>
  <cp:revision>6</cp:revision>
  <dcterms:created xsi:type="dcterms:W3CDTF">2025-11-27T09:41:56Z</dcterms:created>
  <dcterms:modified xsi:type="dcterms:W3CDTF">2025-12-07T06:16:36Z</dcterms:modified>
</cp:coreProperties>
</file>